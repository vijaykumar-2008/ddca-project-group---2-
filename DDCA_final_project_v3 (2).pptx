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title. Roll numbers and section are on this slide. Fill in the section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how simple gates combine to perform multi-bit binary addition. Be ready to explain why a half adder alone is not enough for multi-bit numbers (no carry-in).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gates first, then the half adder, then show the full adder is two half adders plus OR. Viva: derive Cout = AB + Cin(A xor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dashed placeholder with a screenshot of your Logisim 4-bit adder. Explain that carry ripples from LSB to MSB, so each stage waits for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two placeholders with real Logisim screenshots. Re-check each table row in Logisim before presenting; the 4-bit rows are hand-verified expected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then be ready for viva: why ripple-carry is slow, how carry-lookahead helps, how subtraction reuses the 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Text 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DDCA Final Project  |  Half Adder, Full Adder &amp; 4-bit Arithmetic Unit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75120" y="0"/>
            <a:ext cx="5513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chemeClr val="tx2">
              <a:alpha val="65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5486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DDCA FINAL PROJECT  ·  DIGITAL DESIGN AND COMPUTER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9436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Half Adder, Full Adder and a 4-bit Arithmetic Unit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6576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E8"/>
                </a:solidFill>
              </a:rPr>
              <a:t>Logic gates · carry propagation · Logisim verification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4297680"/>
          <a:ext cx="5120640" cy="164592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Team member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Roll number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Tanusree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2620030047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Rishitha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2620030062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Shreyasi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2620030164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Aalakuntla Kumar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2620030137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080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Section: ____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02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and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tro card"/>
          <p:cNvSpPr/>
          <p:nvPr/>
        </p:nvSpPr>
        <p:spPr>
          <a:xfrm>
            <a:off x="548640" y="1554480"/>
            <a:ext cx="50292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is this project?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57200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digital arithmetic circuit is built from binary addition, done one bit position at a time.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half adder adds two bits. A full adder also accepts a carry-in, so it can be chained.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Four full adders connected in a ripple-carry chain form a 4-bit arithmetic unit.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design is built from XOR, AND and OR gates and simulated in Logisim.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9" name="Objective 1"/>
          <p:cNvSpPr/>
          <p:nvPr/>
        </p:nvSpPr>
        <p:spPr>
          <a:xfrm>
            <a:off x="5943600" y="2011680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194560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19456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084832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Design a half adder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XOR + AND give Sum and Carry</a:t>
            </a:r>
            <a:endParaRPr lang="en-US" sz="1700" dirty="0"/>
          </a:p>
        </p:txBody>
      </p:sp>
      <p:sp>
        <p:nvSpPr>
          <p:cNvPr id="13" name="Objective 2"/>
          <p:cNvSpPr/>
          <p:nvPr/>
        </p:nvSpPr>
        <p:spPr>
          <a:xfrm>
            <a:off x="5943600" y="3063240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3246120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2461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136392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Design a full adder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Two half adders + an OR gate, with Cin</a:t>
            </a:r>
            <a:endParaRPr lang="en-US" sz="1700" dirty="0"/>
          </a:p>
        </p:txBody>
      </p:sp>
      <p:sp>
        <p:nvSpPr>
          <p:cNvPr id="17" name="Objective 3"/>
          <p:cNvSpPr/>
          <p:nvPr/>
        </p:nvSpPr>
        <p:spPr>
          <a:xfrm>
            <a:off x="5943600" y="4114800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297680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429768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187952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Build a 4-bit adder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Four full adders in a ripple-carry chain</a:t>
            </a:r>
            <a:endParaRPr lang="en-US" sz="1700" dirty="0"/>
          </a:p>
        </p:txBody>
      </p:sp>
      <p:sp>
        <p:nvSpPr>
          <p:cNvPr id="21" name="Objective 4"/>
          <p:cNvSpPr/>
          <p:nvPr/>
        </p:nvSpPr>
        <p:spPr>
          <a:xfrm>
            <a:off x="5943600" y="5166360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5349240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534924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5239512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Verify in Logisim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Check truth tables, carry flow and test sums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03 · THEORY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and Logic Circuit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XOR chip"/>
          <p:cNvSpPr/>
          <p:nvPr/>
        </p:nvSpPr>
        <p:spPr>
          <a:xfrm>
            <a:off x="548640" y="1417320"/>
            <a:ext cx="361188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XOR   A ⊕ B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D9E2E8"/>
                </a:solidFill>
              </a:rPr>
              <a:t>1 when the inputs differ</a:t>
            </a:r>
            <a:endParaRPr lang="en-US" sz="1600" dirty="0"/>
          </a:p>
        </p:txBody>
      </p:sp>
      <p:sp>
        <p:nvSpPr>
          <p:cNvPr id="7" name="AND chip"/>
          <p:cNvSpPr/>
          <p:nvPr/>
        </p:nvSpPr>
        <p:spPr>
          <a:xfrm>
            <a:off x="4297680" y="1417320"/>
            <a:ext cx="361188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173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AND   A · B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D9E2E8"/>
                </a:solidFill>
              </a:rPr>
              <a:t>1 only when both inputs are 1</a:t>
            </a:r>
            <a:endParaRPr lang="en-US" sz="1600" dirty="0"/>
          </a:p>
        </p:txBody>
      </p:sp>
      <p:sp>
        <p:nvSpPr>
          <p:cNvPr id="9" name="OR chip"/>
          <p:cNvSpPr/>
          <p:nvPr/>
        </p:nvSpPr>
        <p:spPr>
          <a:xfrm>
            <a:off x="8046720" y="1417320"/>
            <a:ext cx="361188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4173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   A + B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D9E2E8"/>
                </a:solidFill>
              </a:rPr>
              <a:t>1 when at least one input is 1</a:t>
            </a:r>
            <a:endParaRPr lang="en-US" sz="1600" dirty="0"/>
          </a:p>
        </p:txBody>
      </p:sp>
      <p:sp>
        <p:nvSpPr>
          <p:cNvPr id="11" name="Half adder card"/>
          <p:cNvSpPr/>
          <p:nvPr/>
        </p:nvSpPr>
        <p:spPr>
          <a:xfrm>
            <a:off x="548640" y="2286000"/>
            <a:ext cx="502920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2" name="Full adder card"/>
          <p:cNvSpPr/>
          <p:nvPr/>
        </p:nvSpPr>
        <p:spPr>
          <a:xfrm>
            <a:off x="5760720" y="2286000"/>
            <a:ext cx="58978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Half adder  (inputs A, B)</a:t>
            </a:r>
            <a:endParaRPr lang="en-US" sz="1600" dirty="0"/>
          </a:p>
        </p:txBody>
      </p:sp>
      <p:pic>
        <p:nvPicPr>
          <p:cNvPr id="14" name="Image 0" descr="Half adder: XOR gives sum, AND gives car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115" y="2917847"/>
            <a:ext cx="2656249" cy="1700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" y="489204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Sum  S = A ⊕ B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Carry  C = A · B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No carry-in, so it only suits the least-significant bit.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3774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Full adder  (inputs A, B, Cin)</a:t>
            </a:r>
            <a:endParaRPr lang="en-US" sz="1600" dirty="0"/>
          </a:p>
        </p:txBody>
      </p:sp>
      <p:pic>
        <p:nvPicPr>
          <p:cNvPr id="17" name="Image 1" descr="Full adder: two half adders and an OR g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427" y="2693409"/>
            <a:ext cx="4340466" cy="229566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943600" y="5257800"/>
            <a:ext cx="55321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Sum  S = A ⊕ B ⊕ Cin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Carry-out  Cout = A·B + Cin·(A ⊕ B)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HA1 adds A and B; HA2 adds that sum to Cin; the OR gate merges the two carries.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04 ·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Circuit Design in Logisim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Block diagram card"/>
          <p:cNvSpPr/>
          <p:nvPr/>
        </p:nvSpPr>
        <p:spPr>
          <a:xfrm>
            <a:off x="548640" y="1417320"/>
            <a:ext cx="11109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  <p:txBody>
          <a:bodyPr/>
          <a:p/>
        </p:txBody>
      </p:sp>
      <p:pic>
        <p:nvPicPr>
          <p:cNvPr id="6" name="Image 0" descr="4-bit ripple-carry adder block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9217152" cy="2190214"/>
          </a:xfrm>
          <a:prstGeom prst="rect">
            <a:avLst/>
          </a:prstGeom>
        </p:spPr>
      </p:pic>
      <p:sp>
        <p:nvSpPr>
          <p:cNvPr id="7" name="Logisim screenshot placeholder"/>
          <p:cNvSpPr/>
          <p:nvPr/>
        </p:nvSpPr>
        <p:spPr>
          <a:xfrm>
            <a:off x="548640" y="3611880"/>
            <a:ext cx="5852160" cy="26974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675120" y="36118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977640"/>
            <a:ext cx="498348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Build: gates → half adder → full adder → 4-bit adder, each saved as a subcircuit.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Inputs A3–A0 and B3–B0 are set with input pins; C0 is tied to 0 for addition.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FA passes its Cout to the next FA’s Cin: C0 → C1 → C2 → C3 → C4.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 S3–S0 show the sum on LEDs; C4 is the final carry (overflow).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Picture 25" descr="four_bit_add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3625850"/>
            <a:ext cx="5803900" cy="2683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05 ·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Logisim screenshot: half adder"/>
          <p:cNvSpPr/>
          <p:nvPr/>
        </p:nvSpPr>
        <p:spPr>
          <a:xfrm>
            <a:off x="548640" y="1463040"/>
            <a:ext cx="2743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7" name="Logisim screenshot: full adder"/>
          <p:cNvSpPr/>
          <p:nvPr/>
        </p:nvSpPr>
        <p:spPr>
          <a:xfrm>
            <a:off x="3429000" y="1463040"/>
            <a:ext cx="2743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4-bit adder test cases  (C0 = 0)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4160520"/>
          <a:ext cx="5623560" cy="1865376"/>
        </p:xfrm>
        <a:graphic>
          <a:graphicData uri="http://schemas.openxmlformats.org/drawingml/2006/table">
            <a:tbl>
              <a:tblPr/>
              <a:tblGrid>
                <a:gridCol w="1124712"/>
                <a:gridCol w="1124712"/>
                <a:gridCol w="1124712"/>
                <a:gridCol w="1124712"/>
                <a:gridCol w="1124712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Sum (S3–S0)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Decimal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 + 5 = 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 + 7 = 14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 + 6 = 15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 + 1 = 16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 + 15 = 30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492240" y="1463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Half adder</a:t>
            </a:r>
            <a:endParaRPr lang="en-US" sz="14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/>
        </p:nvGraphicFramePr>
        <p:xfrm>
          <a:off x="6492240" y="1783080"/>
          <a:ext cx="2103120" cy="1371600"/>
        </p:xfrm>
        <a:graphic>
          <a:graphicData uri="http://schemas.openxmlformats.org/drawingml/2006/table">
            <a:tbl>
              <a:tblPr/>
              <a:tblGrid>
                <a:gridCol w="525780"/>
                <a:gridCol w="525780"/>
                <a:gridCol w="525780"/>
                <a:gridCol w="5257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9052560" y="1463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Full adder</a:t>
            </a:r>
            <a:endParaRPr lang="en-US" sz="14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/>
        </p:nvGraphicFramePr>
        <p:xfrm>
          <a:off x="9052560" y="1783080"/>
          <a:ext cx="2606040" cy="2468880"/>
        </p:xfrm>
        <a:graphic>
          <a:graphicData uri="http://schemas.openxmlformats.org/drawingml/2006/table">
            <a:tbl>
              <a:tblPr/>
              <a:tblGrid>
                <a:gridCol w="521208"/>
                <a:gridCol w="521208"/>
                <a:gridCol w="521208"/>
                <a:gridCol w="521208"/>
                <a:gridCol w="521208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1B1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5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Observations card"/>
          <p:cNvSpPr/>
          <p:nvPr/>
        </p:nvSpPr>
        <p:spPr>
          <a:xfrm>
            <a:off x="6492240" y="4983480"/>
            <a:ext cx="5166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0" name="Text 11"/>
          <p:cNvSpPr txBox="1"/>
          <p:nvPr/>
        </p:nvSpPr>
        <p:spPr>
          <a:xfrm>
            <a:off x="6675120" y="502920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Observations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Outputs match the truth tables for every input combination.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C4 = 1 when the sum exceeds 15, which signals overflow of 4 bits.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Picture 25" descr="half_add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917" y="1881390"/>
            <a:ext cx="2235756" cy="1430884"/>
          </a:xfrm>
          <a:prstGeom prst="rect">
            <a:avLst/>
          </a:prstGeom>
        </p:spPr>
      </p:pic>
      <p:pic>
        <p:nvPicPr>
          <p:cNvPr id="27" name="Picture 26" descr="full_add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70274"/>
            <a:ext cx="2743835" cy="1451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06 ·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and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Outcome card"/>
          <p:cNvSpPr/>
          <p:nvPr/>
        </p:nvSpPr>
        <p:spPr>
          <a:xfrm>
            <a:off x="548640" y="1554480"/>
            <a:ext cx="3611880" cy="365760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Outcome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XOR, AND and OR gates are enough to build reliable binary adders.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Half adder → full adder → 4-bit unit by modular reuse.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Logisim simulation matched all truth tables and test sums, including overflow on C4.</a:t>
            </a:r>
            <a:endParaRPr lang="en-US" sz="1400" dirty="0"/>
          </a:p>
        </p:txBody>
      </p:sp>
      <p:sp>
        <p:nvSpPr>
          <p:cNvPr id="9" name="Applications card"/>
          <p:cNvSpPr/>
          <p:nvPr/>
        </p:nvSpPr>
        <p:spPr>
          <a:xfrm>
            <a:off x="4297680" y="1554480"/>
            <a:ext cx="3611880" cy="365760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737360"/>
            <a:ext cx="54864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87452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7744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ALUs and processor datapaths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Address generation and program counters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Calculators, counters and digital signal hardware</a:t>
            </a:r>
            <a:endParaRPr lang="en-US" sz="1400" dirty="0"/>
          </a:p>
        </p:txBody>
      </p:sp>
      <p:sp>
        <p:nvSpPr>
          <p:cNvPr id="13" name="Possible improvements card"/>
          <p:cNvSpPr/>
          <p:nvPr/>
        </p:nvSpPr>
        <p:spPr>
          <a:xfrm>
            <a:off x="8046720" y="1554480"/>
            <a:ext cx="3611880" cy="365760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737360"/>
            <a:ext cx="54864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87452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Possible improvements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37744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subtraction (invert B, set C0 = 1) using 2’s complement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logic operations (AND, OR, XOR) to make a small ALU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carry-lookahead logic to cut the ripple-carry delay</a:t>
            </a:r>
            <a:endParaRPr lang="en-US" sz="1400" dirty="0"/>
          </a:p>
        </p:txBody>
      </p:sp>
      <p:sp>
        <p:nvSpPr>
          <p:cNvPr id="17" name="Trade-off banner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4068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</a:rPr>
              <a:t>Trade-off:  </a:t>
            </a:r>
            <a:r>
              <a:rPr lang="en-US" sz="1500" dirty="0">
                <a:solidFill>
                  <a:srgbClr val="FFFFFF"/>
                </a:solidFill>
              </a:rPr>
              <a:t>ripple-carry is compact and low-cost but slows as width grows, since every stage waits for the previous carry.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CA">
  <a:themeElements>
    <a:clrScheme name="DDCA">
      <a:dk1>
        <a:srgbClr val="1F1B16"/>
      </a:dk1>
      <a:lt1>
        <a:srgbClr val="F7F3EA"/>
      </a:lt1>
      <a:dk2>
        <a:srgbClr val="1F3A4D"/>
      </a:dk2>
      <a:lt2>
        <a:srgbClr val="EFE8DC"/>
      </a:lt2>
      <a:accent1>
        <a:srgbClr val="B9573A"/>
      </a:accent1>
      <a:accent2>
        <a:srgbClr val="1F3A4D"/>
      </a:accent2>
      <a:accent3>
        <a:srgbClr val="6B5E52"/>
      </a:accent3>
      <a:accent4>
        <a:srgbClr val="3E7C6B"/>
      </a:accent4>
      <a:accent5>
        <a:srgbClr val="D9A441"/>
      </a:accent5>
      <a:accent6>
        <a:srgbClr val="8A9BA8"/>
      </a:accent6>
      <a:hlink>
        <a:srgbClr val="1F3A4D"/>
      </a:hlink>
      <a:folHlink>
        <a:srgbClr val="6B5E52"/>
      </a:folHlink>
    </a:clrScheme>
    <a:fontScheme name="DDC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DCA">
  <a:themeElements>
    <a:clrScheme name="DDCA">
      <a:dk1>
        <a:srgbClr val="1F1B16"/>
      </a:dk1>
      <a:lt1>
        <a:srgbClr val="F7F3EA"/>
      </a:lt1>
      <a:dk2>
        <a:srgbClr val="1F3A4D"/>
      </a:dk2>
      <a:lt2>
        <a:srgbClr val="EFE8DC"/>
      </a:lt2>
      <a:accent1>
        <a:srgbClr val="B9573A"/>
      </a:accent1>
      <a:accent2>
        <a:srgbClr val="1F3A4D"/>
      </a:accent2>
      <a:accent3>
        <a:srgbClr val="6B5E52"/>
      </a:accent3>
      <a:accent4>
        <a:srgbClr val="3E7C6B"/>
      </a:accent4>
      <a:accent5>
        <a:srgbClr val="D9A441"/>
      </a:accent5>
      <a:accent6>
        <a:srgbClr val="8A9BA8"/>
      </a:accent6>
      <a:hlink>
        <a:srgbClr val="1F3A4D"/>
      </a:hlink>
      <a:folHlink>
        <a:srgbClr val="6B5E52"/>
      </a:folHlink>
    </a:clrScheme>
    <a:fontScheme name="DDC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2822</Words>
  <Application>WPS Presentation</Application>
  <PresentationFormat>On-screen Show (16:9)</PresentationFormat>
  <Paragraphs>335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MS PGothic</vt:lpstr>
      <vt:lpstr>DDCA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 Final Project – Adders and 4-bit Arithmetic Unit</dc:title>
  <dc:creator>PptxGenJS</dc:creator>
  <dc:subject>PptxGenJS Presentation</dc:subject>
  <cp:lastModifiedBy>SUNIL</cp:lastModifiedBy>
  <cp:revision>2</cp:revision>
  <dcterms:created xsi:type="dcterms:W3CDTF">2026-10-14T16:41:00Z</dcterms:created>
  <dcterms:modified xsi:type="dcterms:W3CDTF">2026-10-15T03:35:37Z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B589DAAFC16F4A5C90875D4CC27BCDEE_12</vt:lpwstr>
  </property>
</Properties>
</file>